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9906000" cy="6858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31"/>
  </p:normalViewPr>
  <p:slideViewPr>
    <p:cSldViewPr snapToGrid="0" snapToObjects="1">
      <p:cViewPr varScale="1">
        <p:scale>
          <a:sx n="108" d="100"/>
          <a:sy n="108" d="100"/>
        </p:scale>
        <p:origin x="14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87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09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399" cy="360045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536433" marR="0" lvl="1" indent="-3033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072866" marR="0" lvl="2" indent="-6066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9298" marR="0" lvl="3" indent="-9097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145731" marR="0" lvl="4" indent="-12131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682164" marR="0" lvl="5" indent="-2463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18597" marR="0" lvl="6" indent="-5496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755029" marR="0" lvl="7" indent="-8528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291462" marR="0" lvl="8" indent="-11562" algn="l" rtl="0">
              <a:spcBef>
                <a:spcPts val="0"/>
              </a:spcBef>
              <a:buClr>
                <a:schemeClr val="dk1"/>
              </a:buClr>
              <a:buFont typeface="Calibri"/>
              <a:buNone/>
              <a:defRPr sz="140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02325" marR="0" lvl="1" indent="-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804649" marR="0" lvl="2" indent="-454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206974" marR="0" lvl="3" indent="-47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609298" marR="0" lvl="4" indent="-909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011623" marR="0" lvl="5" indent="-502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413947" marR="0" lvl="6" indent="-9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2816272" marR="0" lvl="7" indent="-957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218597" marR="0" lvl="8" indent="-549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  <a:defRPr sz="158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878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1017616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Clr>
                <a:schemeClr val="dk1"/>
              </a:buClr>
              <a:buSzPct val="25000"/>
              <a:buFont typeface="Calibri"/>
              <a:buNone/>
            </a:pPr>
            <a:endParaRPr sz="140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Shape 74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27512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155" cy="4652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155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4" name="Shape 14"/>
          <p:cNvCxnSpPr/>
          <p:nvPr/>
        </p:nvCxnSpPr>
        <p:spPr>
          <a:xfrm>
            <a:off x="643202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5" name="Shape 15"/>
          <p:cNvSpPr txBox="1"/>
          <p:nvPr/>
        </p:nvSpPr>
        <p:spPr>
          <a:xfrm>
            <a:off x="643202" y="6297121"/>
            <a:ext cx="193218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JAFAR DESIGNS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STUDIO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Background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584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at Right S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5585887" y="809772"/>
            <a:ext cx="3676910" cy="81842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2"/>
          </p:nvPr>
        </p:nvSpPr>
        <p:spPr>
          <a:xfrm>
            <a:off x="5596205" y="1742350"/>
            <a:ext cx="3676910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25" name="Shape 25"/>
          <p:cNvCxnSpPr/>
          <p:nvPr/>
        </p:nvCxnSpPr>
        <p:spPr>
          <a:xfrm>
            <a:off x="5596203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26" name="Shape 26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ntent without Footer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632885" y="813508"/>
            <a:ext cx="8616155" cy="46529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2492" b="1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643202" y="1278800"/>
            <a:ext cx="8616155" cy="18845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Font typeface="Arial"/>
              <a:buNone/>
              <a:defRPr sz="975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defRPr>
            </a:lvl1pPr>
            <a:lvl2pPr marL="685800" marR="0" lvl="1" indent="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25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33" name="Shape 33"/>
          <p:cNvCxnSpPr/>
          <p:nvPr/>
        </p:nvCxnSpPr>
        <p:spPr>
          <a:xfrm>
            <a:off x="643202" y="656089"/>
            <a:ext cx="990598" cy="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/>
        </p:nvSpPr>
        <p:spPr>
          <a:xfrm>
            <a:off x="8601039" y="6297121"/>
            <a:ext cx="224241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25000"/>
              <a:buFont typeface="Lato"/>
              <a:buNone/>
            </a:pPr>
            <a:fld id="{00000000-1234-1234-1234-123412341234}" type="slidenum">
              <a:rPr lang="en-US" sz="867" b="0" i="0" u="none" strike="noStrike" cap="none">
                <a:solidFill>
                  <a:schemeClr val="accent4"/>
                </a:solidFill>
                <a:latin typeface="Lato"/>
                <a:ea typeface="Lato"/>
                <a:cs typeface="Lato"/>
                <a:sym typeface="Lato"/>
              </a:rPr>
              <a:t>‹nº›</a:t>
            </a:fld>
            <a:endParaRPr lang="en-US" sz="867" b="0" i="0" u="none" strike="noStrike" cap="none">
              <a:solidFill>
                <a:schemeClr val="accent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" name="Shape 36"/>
          <p:cNvSpPr txBox="1"/>
          <p:nvPr/>
        </p:nvSpPr>
        <p:spPr>
          <a:xfrm>
            <a:off x="643202" y="6297121"/>
            <a:ext cx="193218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JAFAR DESIGNS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STUDIO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7238081" y="6297121"/>
            <a:ext cx="1257135" cy="13343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ct val="25000"/>
              <a:buFont typeface="Lato"/>
              <a:buNone/>
            </a:pPr>
            <a:r>
              <a:rPr lang="en-US" sz="867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BUSINESS </a:t>
            </a:r>
            <a:r>
              <a:rPr lang="en-US" sz="867" b="1" i="0" u="none" strike="noStrike" cap="none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PROPOSAL</a:t>
            </a:r>
          </a:p>
        </p:txBody>
      </p:sp>
      <p:sp>
        <p:nvSpPr>
          <p:cNvPr id="38" name="Shape 38"/>
          <p:cNvSpPr/>
          <p:nvPr/>
        </p:nvSpPr>
        <p:spPr>
          <a:xfrm>
            <a:off x="9108046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45089" y="34672"/>
                </a:moveTo>
                <a:cubicBezTo>
                  <a:pt x="68323" y="60000"/>
                  <a:pt x="68323" y="60000"/>
                  <a:pt x="68323" y="60000"/>
                </a:cubicBezTo>
                <a:cubicBezTo>
                  <a:pt x="45089" y="85327"/>
                  <a:pt x="45089" y="85327"/>
                  <a:pt x="45089" y="85327"/>
                </a:cubicBezTo>
                <a:cubicBezTo>
                  <a:pt x="43097" y="87319"/>
                  <a:pt x="43097" y="90587"/>
                  <a:pt x="45089" y="92578"/>
                </a:cubicBezTo>
                <a:cubicBezTo>
                  <a:pt x="47080" y="94570"/>
                  <a:pt x="50297" y="94570"/>
                  <a:pt x="52238" y="92578"/>
                </a:cubicBezTo>
                <a:cubicBezTo>
                  <a:pt x="80629" y="63625"/>
                  <a:pt x="80629" y="63625"/>
                  <a:pt x="80629" y="63625"/>
                </a:cubicBezTo>
                <a:cubicBezTo>
                  <a:pt x="82621" y="61634"/>
                  <a:pt x="82621" y="58365"/>
                  <a:pt x="80629" y="56374"/>
                </a:cubicBezTo>
                <a:cubicBezTo>
                  <a:pt x="52238" y="27421"/>
                  <a:pt x="52238" y="27421"/>
                  <a:pt x="52238" y="27421"/>
                </a:cubicBezTo>
                <a:cubicBezTo>
                  <a:pt x="50297" y="25429"/>
                  <a:pt x="47080" y="25429"/>
                  <a:pt x="45089" y="27421"/>
                </a:cubicBezTo>
                <a:cubicBezTo>
                  <a:pt x="43097" y="29412"/>
                  <a:pt x="43097" y="32680"/>
                  <a:pt x="45089" y="34672"/>
                </a:cubicBezTo>
                <a:close/>
                <a:moveTo>
                  <a:pt x="0" y="60000"/>
                </a:move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lose/>
                <a:moveTo>
                  <a:pt x="112238" y="60000"/>
                </a:move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8931103" y="6292357"/>
            <a:ext cx="153030" cy="155448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4910" y="85327"/>
                </a:moveTo>
                <a:cubicBezTo>
                  <a:pt x="51676" y="60000"/>
                  <a:pt x="51676" y="60000"/>
                  <a:pt x="51676" y="60000"/>
                </a:cubicBezTo>
                <a:cubicBezTo>
                  <a:pt x="74910" y="34672"/>
                  <a:pt x="74910" y="34672"/>
                  <a:pt x="74910" y="34672"/>
                </a:cubicBezTo>
                <a:cubicBezTo>
                  <a:pt x="76902" y="32680"/>
                  <a:pt x="76902" y="29412"/>
                  <a:pt x="74910" y="27421"/>
                </a:cubicBezTo>
                <a:cubicBezTo>
                  <a:pt x="72919" y="25429"/>
                  <a:pt x="69702" y="25429"/>
                  <a:pt x="67761" y="27421"/>
                </a:cubicBezTo>
                <a:cubicBezTo>
                  <a:pt x="39370" y="56374"/>
                  <a:pt x="39370" y="56374"/>
                  <a:pt x="39370" y="56374"/>
                </a:cubicBezTo>
                <a:cubicBezTo>
                  <a:pt x="37378" y="58365"/>
                  <a:pt x="37378" y="61634"/>
                  <a:pt x="39370" y="63625"/>
                </a:cubicBezTo>
                <a:cubicBezTo>
                  <a:pt x="67761" y="92578"/>
                  <a:pt x="67761" y="92578"/>
                  <a:pt x="67761" y="92578"/>
                </a:cubicBezTo>
                <a:cubicBezTo>
                  <a:pt x="69702" y="94570"/>
                  <a:pt x="72919" y="94570"/>
                  <a:pt x="74910" y="92578"/>
                </a:cubicBezTo>
                <a:cubicBezTo>
                  <a:pt x="76902" y="90587"/>
                  <a:pt x="76902" y="87319"/>
                  <a:pt x="74910" y="85327"/>
                </a:cubicBezTo>
                <a:close/>
                <a:moveTo>
                  <a:pt x="120000" y="60000"/>
                </a:moveTo>
                <a:cubicBezTo>
                  <a:pt x="120000" y="26859"/>
                  <a:pt x="93140" y="0"/>
                  <a:pt x="60000" y="0"/>
                </a:cubicBezTo>
                <a:cubicBezTo>
                  <a:pt x="26859" y="0"/>
                  <a:pt x="0" y="26859"/>
                  <a:pt x="0" y="60000"/>
                </a:cubicBezTo>
                <a:cubicBezTo>
                  <a:pt x="0" y="93140"/>
                  <a:pt x="26859" y="120000"/>
                  <a:pt x="60000" y="120000"/>
                </a:cubicBezTo>
                <a:cubicBezTo>
                  <a:pt x="93140" y="120000"/>
                  <a:pt x="120000" y="93140"/>
                  <a:pt x="120000" y="60000"/>
                </a:cubicBezTo>
                <a:close/>
                <a:moveTo>
                  <a:pt x="7761" y="60000"/>
                </a:moveTo>
                <a:cubicBezTo>
                  <a:pt x="7761" y="31148"/>
                  <a:pt x="31148" y="7761"/>
                  <a:pt x="60000" y="7761"/>
                </a:cubicBezTo>
                <a:cubicBezTo>
                  <a:pt x="88851" y="7761"/>
                  <a:pt x="112238" y="31148"/>
                  <a:pt x="112238" y="60000"/>
                </a:cubicBezTo>
                <a:cubicBezTo>
                  <a:pt x="112238" y="88851"/>
                  <a:pt x="88851" y="112238"/>
                  <a:pt x="60000" y="112238"/>
                </a:cubicBezTo>
                <a:cubicBezTo>
                  <a:pt x="31148" y="112238"/>
                  <a:pt x="7761" y="88851"/>
                  <a:pt x="7761" y="6000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lIns="99050" tIns="49525" rIns="99050" bIns="495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71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 txBox="1">
            <a:spLocks noGrp="1"/>
          </p:cNvSpPr>
          <p:nvPr>
            <p:ph type="body" idx="4294967295"/>
          </p:nvPr>
        </p:nvSpPr>
        <p:spPr>
          <a:xfrm>
            <a:off x="0" y="812800"/>
            <a:ext cx="8615363" cy="4667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25000"/>
              <a:buFont typeface="Arial"/>
              <a:buNone/>
            </a:pPr>
            <a:r>
              <a:rPr lang="en-US" b="1" dirty="0">
                <a:latin typeface="Raleway"/>
                <a:ea typeface="Raleway"/>
                <a:cs typeface="Raleway"/>
                <a:sym typeface="Raleway"/>
              </a:rPr>
              <a:t>              </a:t>
            </a:r>
            <a:r>
              <a:rPr lang="en-US" sz="1800" b="1" dirty="0">
                <a:latin typeface="Raleway"/>
                <a:ea typeface="Raleway"/>
                <a:cs typeface="Raleway"/>
                <a:sym typeface="Raleway"/>
              </a:rPr>
              <a:t>CANVAS: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Raleway"/>
                <a:ea typeface="Raleway"/>
                <a:cs typeface="Raleway"/>
                <a:sym typeface="Raleway"/>
              </a:rPr>
              <a:t>NOME DA EMPRESA</a:t>
            </a:r>
          </a:p>
        </p:txBody>
      </p:sp>
      <p:grpSp>
        <p:nvGrpSpPr>
          <p:cNvPr id="78" name="Shape 78"/>
          <p:cNvGrpSpPr/>
          <p:nvPr/>
        </p:nvGrpSpPr>
        <p:grpSpPr>
          <a:xfrm>
            <a:off x="669900" y="1322628"/>
            <a:ext cx="8615809" cy="4785998"/>
            <a:chOff x="669900" y="1322628"/>
            <a:chExt cx="8615809" cy="4785998"/>
          </a:xfrm>
        </p:grpSpPr>
        <p:grpSp>
          <p:nvGrpSpPr>
            <p:cNvPr id="79" name="Shape 79"/>
            <p:cNvGrpSpPr/>
            <p:nvPr/>
          </p:nvGrpSpPr>
          <p:grpSpPr>
            <a:xfrm>
              <a:off x="669900" y="1322628"/>
              <a:ext cx="8615809" cy="4785998"/>
              <a:chOff x="593724" y="1322625"/>
              <a:chExt cx="7953300" cy="3646475"/>
            </a:xfrm>
          </p:grpSpPr>
          <p:sp>
            <p:nvSpPr>
              <p:cNvPr id="80" name="Shape 80"/>
              <p:cNvSpPr/>
              <p:nvPr/>
            </p:nvSpPr>
            <p:spPr>
              <a:xfrm>
                <a:off x="593724" y="1322625"/>
                <a:ext cx="7953300" cy="3636300"/>
              </a:xfrm>
              <a:prstGeom prst="rect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44975" tIns="44975" rIns="44975" bIns="449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Helvetica Neue Light"/>
                  <a:buNone/>
                </a:pPr>
                <a:endParaRPr sz="2000" b="0" i="0" u="none" strike="noStrike" cap="none">
                  <a:solidFill>
                    <a:srgbClr val="000000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endParaRPr>
              </a:p>
            </p:txBody>
          </p:sp>
          <p:cxnSp>
            <p:nvCxnSpPr>
              <p:cNvPr id="81" name="Shape 81"/>
              <p:cNvCxnSpPr/>
              <p:nvPr/>
            </p:nvCxnSpPr>
            <p:spPr>
              <a:xfrm>
                <a:off x="613410" y="4053218"/>
                <a:ext cx="7919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2" name="Shape 82"/>
              <p:cNvCxnSpPr/>
              <p:nvPr/>
            </p:nvCxnSpPr>
            <p:spPr>
              <a:xfrm>
                <a:off x="6949327" y="1324132"/>
                <a:ext cx="0" cy="2720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3" name="Shape 83"/>
              <p:cNvCxnSpPr/>
              <p:nvPr/>
            </p:nvCxnSpPr>
            <p:spPr>
              <a:xfrm>
                <a:off x="2196686" y="1324132"/>
                <a:ext cx="0" cy="2719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4" name="Shape 84"/>
              <p:cNvCxnSpPr/>
              <p:nvPr/>
            </p:nvCxnSpPr>
            <p:spPr>
              <a:xfrm>
                <a:off x="3777150" y="1324132"/>
                <a:ext cx="0" cy="2720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5" name="Shape 85"/>
              <p:cNvCxnSpPr/>
              <p:nvPr/>
            </p:nvCxnSpPr>
            <p:spPr>
              <a:xfrm>
                <a:off x="5363239" y="1324132"/>
                <a:ext cx="0" cy="27207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6" name="Shape 86"/>
              <p:cNvCxnSpPr/>
              <p:nvPr/>
            </p:nvCxnSpPr>
            <p:spPr>
              <a:xfrm>
                <a:off x="2199498" y="2702555"/>
                <a:ext cx="1590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7" name="Shape 87"/>
              <p:cNvCxnSpPr/>
              <p:nvPr/>
            </p:nvCxnSpPr>
            <p:spPr>
              <a:xfrm>
                <a:off x="5350584" y="2702555"/>
                <a:ext cx="15900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  <p:cxnSp>
            <p:nvCxnSpPr>
              <p:cNvPr id="88" name="Shape 88"/>
              <p:cNvCxnSpPr/>
              <p:nvPr/>
            </p:nvCxnSpPr>
            <p:spPr>
              <a:xfrm rot="10800000">
                <a:off x="4573006" y="4055000"/>
                <a:ext cx="0" cy="9141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53585F"/>
                </a:solidFill>
                <a:prstDash val="solid"/>
                <a:miter/>
                <a:headEnd type="none" w="med" len="med"/>
                <a:tailEnd type="none" w="med" len="med"/>
              </a:ln>
            </p:spPr>
          </p:cxnSp>
        </p:grpSp>
        <p:sp>
          <p:nvSpPr>
            <p:cNvPr id="89" name="Shape 89"/>
            <p:cNvSpPr/>
            <p:nvPr/>
          </p:nvSpPr>
          <p:spPr>
            <a:xfrm>
              <a:off x="7570432" y="1405147"/>
              <a:ext cx="1345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 dirty="0" err="1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Segmentos</a:t>
              </a:r>
              <a:r>
                <a:rPr lang="en-US" sz="900" i="1" u="none" strike="noStrike" cap="none" dirty="0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 de </a:t>
              </a:r>
              <a:r>
                <a:rPr lang="en-US" sz="900" i="1" u="none" strike="noStrike" cap="none" dirty="0" err="1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Clientes</a:t>
              </a:r>
              <a:endParaRPr lang="en-US" sz="900" i="1" u="none" strike="noStrike" cap="none" dirty="0">
                <a:solidFill>
                  <a:srgbClr val="A6AAA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90" name="Shape 90"/>
            <p:cNvSpPr/>
            <p:nvPr/>
          </p:nvSpPr>
          <p:spPr>
            <a:xfrm>
              <a:off x="5866449" y="1409577"/>
              <a:ext cx="1168199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Relacionamento</a:t>
              </a:r>
            </a:p>
          </p:txBody>
        </p:sp>
        <p:sp>
          <p:nvSpPr>
            <p:cNvPr id="91" name="Shape 91"/>
            <p:cNvSpPr/>
            <p:nvPr/>
          </p:nvSpPr>
          <p:spPr>
            <a:xfrm>
              <a:off x="4159581" y="1405147"/>
              <a:ext cx="11307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Propostas de Valor</a:t>
              </a:r>
            </a:p>
          </p:txBody>
        </p:sp>
        <p:sp>
          <p:nvSpPr>
            <p:cNvPr id="92" name="Shape 92"/>
            <p:cNvSpPr/>
            <p:nvPr/>
          </p:nvSpPr>
          <p:spPr>
            <a:xfrm>
              <a:off x="2435206" y="1405147"/>
              <a:ext cx="10434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Atividades Chave</a:t>
              </a:r>
            </a:p>
          </p:txBody>
        </p:sp>
        <p:sp>
          <p:nvSpPr>
            <p:cNvPr id="93" name="Shape 93"/>
            <p:cNvSpPr/>
            <p:nvPr/>
          </p:nvSpPr>
          <p:spPr>
            <a:xfrm>
              <a:off x="710836" y="1381331"/>
              <a:ext cx="13452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Parcerias-Chave</a:t>
              </a:r>
            </a:p>
          </p:txBody>
        </p:sp>
        <p:sp>
          <p:nvSpPr>
            <p:cNvPr id="94" name="Shape 94"/>
            <p:cNvSpPr/>
            <p:nvPr/>
          </p:nvSpPr>
          <p:spPr>
            <a:xfrm>
              <a:off x="5034715" y="4988176"/>
              <a:ext cx="1057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Fontes</a:t>
              </a: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 de Receitas</a:t>
              </a:r>
            </a:p>
          </p:txBody>
        </p:sp>
        <p:sp>
          <p:nvSpPr>
            <p:cNvPr id="95" name="Shape 95"/>
            <p:cNvSpPr/>
            <p:nvPr/>
          </p:nvSpPr>
          <p:spPr>
            <a:xfrm>
              <a:off x="704875" y="4988176"/>
              <a:ext cx="1168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Estrutura de Custos</a:t>
              </a:r>
            </a:p>
          </p:txBody>
        </p:sp>
        <p:sp>
          <p:nvSpPr>
            <p:cNvPr id="96" name="Shape 96"/>
            <p:cNvSpPr/>
            <p:nvPr/>
          </p:nvSpPr>
          <p:spPr>
            <a:xfrm>
              <a:off x="2435952" y="3212457"/>
              <a:ext cx="9909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Recursos Chave</a:t>
              </a:r>
            </a:p>
          </p:txBody>
        </p:sp>
        <p:sp>
          <p:nvSpPr>
            <p:cNvPr id="97" name="Shape 97"/>
            <p:cNvSpPr/>
            <p:nvPr/>
          </p:nvSpPr>
          <p:spPr>
            <a:xfrm>
              <a:off x="5859165" y="3212457"/>
              <a:ext cx="1057200" cy="188100"/>
            </a:xfrm>
            <a:prstGeom prst="rect">
              <a:avLst/>
            </a:prstGeom>
            <a:noFill/>
            <a:ln>
              <a:noFill/>
            </a:ln>
          </p:spPr>
          <p:txBody>
            <a:bodyPr lIns="44975" tIns="44975" rIns="44975" bIns="449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A6AAA9"/>
                </a:buClr>
                <a:buSzPct val="25000"/>
                <a:buFont typeface="Raleway"/>
                <a:buNone/>
              </a:pPr>
              <a:r>
                <a:rPr lang="en-US" sz="900" i="1" u="none" strike="noStrike" cap="none">
                  <a:solidFill>
                    <a:srgbClr val="A6AAA9"/>
                  </a:solidFill>
                  <a:latin typeface="Raleway"/>
                  <a:ea typeface="Raleway"/>
                  <a:cs typeface="Raleway"/>
                  <a:sym typeface="Raleway"/>
                </a:rPr>
                <a:t>Canais</a:t>
              </a:r>
            </a:p>
          </p:txBody>
        </p:sp>
      </p:grpSp>
      <p:sp>
        <p:nvSpPr>
          <p:cNvPr id="98" name="Shape 98"/>
          <p:cNvSpPr/>
          <p:nvPr/>
        </p:nvSpPr>
        <p:spPr>
          <a:xfrm>
            <a:off x="7811062" y="3356402"/>
            <a:ext cx="1229400" cy="705000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Cliente 2</a:t>
            </a:r>
          </a:p>
        </p:txBody>
      </p:sp>
      <p:sp>
        <p:nvSpPr>
          <p:cNvPr id="99" name="Shape 99"/>
          <p:cNvSpPr/>
          <p:nvPr/>
        </p:nvSpPr>
        <p:spPr>
          <a:xfrm>
            <a:off x="7799637" y="2110373"/>
            <a:ext cx="1229400" cy="705000"/>
          </a:xfrm>
          <a:prstGeom prst="rect">
            <a:avLst/>
          </a:prstGeom>
          <a:solidFill>
            <a:srgbClr val="92D05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Cliente 1</a:t>
            </a:r>
          </a:p>
        </p:txBody>
      </p:sp>
      <p:sp>
        <p:nvSpPr>
          <p:cNvPr id="100" name="Shape 100"/>
          <p:cNvSpPr/>
          <p:nvPr/>
        </p:nvSpPr>
        <p:spPr>
          <a:xfrm>
            <a:off x="4338312" y="2695548"/>
            <a:ext cx="1229400" cy="70499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Cliente 1</a:t>
            </a:r>
          </a:p>
        </p:txBody>
      </p:sp>
      <p:sp>
        <p:nvSpPr>
          <p:cNvPr id="101" name="Shape 101"/>
          <p:cNvSpPr/>
          <p:nvPr/>
        </p:nvSpPr>
        <p:spPr>
          <a:xfrm>
            <a:off x="6014712" y="34575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Canal 1</a:t>
            </a:r>
          </a:p>
        </p:txBody>
      </p:sp>
      <p:sp>
        <p:nvSpPr>
          <p:cNvPr id="102" name="Shape 102"/>
          <p:cNvSpPr/>
          <p:nvPr/>
        </p:nvSpPr>
        <p:spPr>
          <a:xfrm>
            <a:off x="6090912" y="19335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Relacionamento</a:t>
            </a:r>
          </a:p>
        </p:txBody>
      </p:sp>
      <p:sp>
        <p:nvSpPr>
          <p:cNvPr id="103" name="Shape 103"/>
          <p:cNvSpPr/>
          <p:nvPr/>
        </p:nvSpPr>
        <p:spPr>
          <a:xfrm>
            <a:off x="6700512" y="5133948"/>
            <a:ext cx="1229400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Fonte de Receita</a:t>
            </a:r>
          </a:p>
        </p:txBody>
      </p:sp>
      <p:sp>
        <p:nvSpPr>
          <p:cNvPr id="104" name="Shape 104"/>
          <p:cNvSpPr/>
          <p:nvPr/>
        </p:nvSpPr>
        <p:spPr>
          <a:xfrm>
            <a:off x="1899912" y="5133948"/>
            <a:ext cx="1229400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Custo 1</a:t>
            </a:r>
          </a:p>
        </p:txBody>
      </p:sp>
      <p:sp>
        <p:nvSpPr>
          <p:cNvPr id="105" name="Shape 105"/>
          <p:cNvSpPr/>
          <p:nvPr/>
        </p:nvSpPr>
        <p:spPr>
          <a:xfrm>
            <a:off x="3423912" y="5133948"/>
            <a:ext cx="1229400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Custo 2</a:t>
            </a:r>
          </a:p>
        </p:txBody>
      </p:sp>
      <p:sp>
        <p:nvSpPr>
          <p:cNvPr id="106" name="Shape 106"/>
          <p:cNvSpPr/>
          <p:nvPr/>
        </p:nvSpPr>
        <p:spPr>
          <a:xfrm>
            <a:off x="2509512" y="35337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Recurso 1</a:t>
            </a:r>
          </a:p>
        </p:txBody>
      </p:sp>
      <p:sp>
        <p:nvSpPr>
          <p:cNvPr id="107" name="Shape 107"/>
          <p:cNvSpPr/>
          <p:nvPr/>
        </p:nvSpPr>
        <p:spPr>
          <a:xfrm>
            <a:off x="2661912" y="23145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Atividade 2</a:t>
            </a:r>
          </a:p>
        </p:txBody>
      </p:sp>
      <p:sp>
        <p:nvSpPr>
          <p:cNvPr id="108" name="Shape 108"/>
          <p:cNvSpPr/>
          <p:nvPr/>
        </p:nvSpPr>
        <p:spPr>
          <a:xfrm>
            <a:off x="909312" y="2771748"/>
            <a:ext cx="1229400" cy="704999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Parceria</a:t>
            </a:r>
          </a:p>
        </p:txBody>
      </p:sp>
      <p:sp>
        <p:nvSpPr>
          <p:cNvPr id="109" name="Shape 109"/>
          <p:cNvSpPr/>
          <p:nvPr/>
        </p:nvSpPr>
        <p:spPr>
          <a:xfrm>
            <a:off x="6167112" y="40671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Canal 2</a:t>
            </a:r>
          </a:p>
        </p:txBody>
      </p:sp>
      <p:sp>
        <p:nvSpPr>
          <p:cNvPr id="110" name="Shape 110"/>
          <p:cNvSpPr/>
          <p:nvPr/>
        </p:nvSpPr>
        <p:spPr>
          <a:xfrm>
            <a:off x="2738112" y="40671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Recurso 2</a:t>
            </a:r>
          </a:p>
        </p:txBody>
      </p:sp>
      <p:sp>
        <p:nvSpPr>
          <p:cNvPr id="111" name="Shape 111"/>
          <p:cNvSpPr/>
          <p:nvPr/>
        </p:nvSpPr>
        <p:spPr>
          <a:xfrm>
            <a:off x="2509512" y="1704948"/>
            <a:ext cx="1229399" cy="7050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100" dist="12699" dir="2700000" rotWithShape="0">
              <a:srgbClr val="000000">
                <a:alpha val="74900"/>
              </a:srgbClr>
            </a:outerShdw>
          </a:effectLst>
        </p:spPr>
        <p:txBody>
          <a:bodyPr lIns="89950" tIns="89950" rIns="89950" bIns="899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25000"/>
              <a:buFont typeface="Arial"/>
              <a:buNone/>
            </a:pPr>
            <a:r>
              <a:rPr lang="en-US" sz="1000">
                <a:latin typeface="Raleway"/>
                <a:ea typeface="Raleway"/>
                <a:cs typeface="Raleway"/>
                <a:sym typeface="Raleway"/>
              </a:rPr>
              <a:t>Atividade  1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18-Light Business Proposal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B5050"/>
      </a:accent1>
      <a:accent2>
        <a:srgbClr val="00AAF0"/>
      </a:accent2>
      <a:accent3>
        <a:srgbClr val="6E7378"/>
      </a:accent3>
      <a:accent4>
        <a:srgbClr val="91969B"/>
      </a:accent4>
      <a:accent5>
        <a:srgbClr val="AAAFB4"/>
      </a:accent5>
      <a:accent6>
        <a:srgbClr val="DCE1E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</Words>
  <Application>Microsoft Office PowerPoint</Application>
  <PresentationFormat>Papel A4 (210 x 297 mm)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 Neue Light</vt:lpstr>
      <vt:lpstr>Lato</vt:lpstr>
      <vt:lpstr>Raleway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PAUL GOMES</dc:creator>
  <cp:lastModifiedBy>Paul Gomes</cp:lastModifiedBy>
  <cp:revision>6</cp:revision>
  <dcterms:modified xsi:type="dcterms:W3CDTF">2023-01-06T16:54:31Z</dcterms:modified>
</cp:coreProperties>
</file>